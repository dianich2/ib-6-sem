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ПИБ для Университета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Подшиваленко Диана Игоревна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1201271" y="88758"/>
            <a:ext cx="992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цель и задачи разработки ПИБ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университета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9FBA0-8452-4D9B-A526-089068A19062}"/>
              </a:ext>
            </a:extLst>
          </p:cNvPr>
          <p:cNvSpPr txBox="1"/>
          <p:nvPr/>
        </p:nvSpPr>
        <p:spPr>
          <a:xfrm>
            <a:off x="1201271" y="754071"/>
            <a:ext cx="99239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политики ИБ критически важна для университета, так как он является держателем ценного научного капитала и персональных данных тысяч людей. В условиях цифровизации, когда обучение неразрывно связано с облачными сервисами и онлайн-платформами, надежная защита информации становится не просто технической задачей, а обязательным условием стабильной работы и безопасности репутации ВУЗа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54BB83-2612-4FD8-AD09-2B04D60B882A}"/>
              </a:ext>
            </a:extLst>
          </p:cNvPr>
          <p:cNvSpPr txBox="1"/>
          <p:nvPr/>
        </p:nvSpPr>
        <p:spPr>
          <a:xfrm>
            <a:off x="1201270" y="2385287"/>
            <a:ext cx="99239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политики безопасности: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конфиденциальность: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к важным данным (деньги, личные дела, тесты) только для «своих»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защита оценок и документов от любых исправлений и подделок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быстрая ликвидация дыр в защите и работа системы без сбоев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учебные сервисы должны быть открыты для студентов и преподавателей 24/7.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6765AD-DF81-44CD-8676-73A8566DF134}"/>
              </a:ext>
            </a:extLst>
          </p:cNvPr>
          <p:cNvSpPr txBox="1"/>
          <p:nvPr/>
        </p:nvSpPr>
        <p:spPr>
          <a:xfrm>
            <a:off x="1201270" y="4626601"/>
            <a:ext cx="99239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составить список того, что защищаем и кто имеет на это право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все слабые места и понять, откуда может прийти атака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четкие правила: кому и куда можно заходить (роли пользователей)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и внедрить защитные программы и устройства (антивирусы, шифрование).</a:t>
            </a:r>
          </a:p>
        </p:txBody>
      </p:sp>
    </p:spTree>
    <p:extLst>
      <p:ext uri="{BB962C8B-B14F-4D97-AF65-F5344CB8AC3E}">
        <p14:creationId xmlns:p14="http://schemas.microsoft.com/office/powerpoint/2010/main" val="21832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1201271" y="96235"/>
            <a:ext cx="992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защиты и структура организации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33B2D-F5B7-46EC-9DB8-264F66663D58}"/>
              </a:ext>
            </a:extLst>
          </p:cNvPr>
          <p:cNvSpPr txBox="1"/>
          <p:nvPr/>
        </p:nvSpPr>
        <p:spPr>
          <a:xfrm>
            <a:off x="197223" y="586736"/>
            <a:ext cx="62932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персональные данные студентов и сотрудников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аучный капитал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об успеваемости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инансовая и хозяйственная информация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лужебная переписка руководства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ерверы и системы хранения данных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сетевое оборудование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D37C4-C172-4E7A-B1A4-EF4FBED6A8E5}"/>
              </a:ext>
            </a:extLst>
          </p:cNvPr>
          <p:cNvSpPr txBox="1"/>
          <p:nvPr/>
        </p:nvSpPr>
        <p:spPr>
          <a:xfrm>
            <a:off x="197223" y="3462505"/>
            <a:ext cx="584498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Субъекты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ехнический персонал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деканаты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бухгалтерия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преподаватели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магистранты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аспиранты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пользователи.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E45328-2134-46E8-8D88-E8EF86527BDB}"/>
              </a:ext>
            </a:extLst>
          </p:cNvPr>
          <p:cNvSpPr txBox="1"/>
          <p:nvPr/>
        </p:nvSpPr>
        <p:spPr>
          <a:xfrm>
            <a:off x="5477436" y="2664861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публичные сайты и порталы для абитуриентов, защищенные от атак из интернета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зашифрованные соединения для безопасной работы сотрудников вне офиса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закрытая зона для работы с базами данных бухгалтерии, кадров и ведомостей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площадка для систем дистанционного обучения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электронных библиотек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marR="0" lvl="0" indent="450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защищенные хранилища для результатов исследований, диссертаций и патентов.</a:t>
            </a:r>
          </a:p>
        </p:txBody>
      </p:sp>
    </p:spTree>
    <p:extLst>
      <p:ext uri="{BB962C8B-B14F-4D97-AF65-F5344CB8AC3E}">
        <p14:creationId xmlns:p14="http://schemas.microsoft.com/office/powerpoint/2010/main" val="297074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1201271" y="96235"/>
            <a:ext cx="992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угрозы и их источники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33B2D-F5B7-46EC-9DB8-264F66663D58}"/>
              </a:ext>
            </a:extLst>
          </p:cNvPr>
          <p:cNvSpPr txBox="1"/>
          <p:nvPr/>
        </p:nvSpPr>
        <p:spPr>
          <a:xfrm>
            <a:off x="824752" y="573289"/>
            <a:ext cx="10676965" cy="4492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Естественные угрозы (природные и технические):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 defTabSz="36000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стихийные бедствия: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пожары, затопления и другие природные катаклизмы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 defTabSz="36000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техногенные сбои: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аварии в электросетях и прорывы водоснабжения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 defTabSz="36000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износ оборудования: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внезапный выход из строя серверов или систем хранения.</a:t>
            </a:r>
          </a:p>
          <a:p>
            <a:pPr>
              <a:lnSpc>
                <a:spcPct val="12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Непреднамеренные угрозы (случайные ошибки):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персонала: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случайное удаление данных или некорректная настройка программ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невнимательность: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запуск вирусов через личную почту или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флеш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-накопители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некомпетентность: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нарушение работы сети из-за отсутствия навыков у пользователей.</a:t>
            </a:r>
          </a:p>
          <a:p>
            <a:pPr>
              <a:lnSpc>
                <a:spcPct val="12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Преднамеренные угрозы (злой умысел):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атаки: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хакерские взломы,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DDoS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-атаки на сайт, кража научных разработок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внутреннее вмешательство: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подделка оценок студентами, намеренная порча данных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кража информации: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слив персональных данных или передача секретов конкурентам.</a:t>
            </a:r>
          </a:p>
        </p:txBody>
      </p:sp>
    </p:spTree>
    <p:extLst>
      <p:ext uri="{BB962C8B-B14F-4D97-AF65-F5344CB8AC3E}">
        <p14:creationId xmlns:p14="http://schemas.microsoft.com/office/powerpoint/2010/main" val="347602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1201271" y="96235"/>
            <a:ext cx="992392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Шкала оценки ущерба для университета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9F9BD85-E8F0-4066-A689-B9B79BCE3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503730"/>
              </p:ext>
            </p:extLst>
          </p:nvPr>
        </p:nvGraphicFramePr>
        <p:xfrm>
          <a:off x="515470" y="573289"/>
          <a:ext cx="11246224" cy="604234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78715">
                  <a:extLst>
                    <a:ext uri="{9D8B030D-6E8A-4147-A177-3AD203B41FA5}">
                      <a16:colId xmlns:a16="http://schemas.microsoft.com/office/drawing/2014/main" val="922527629"/>
                    </a:ext>
                  </a:extLst>
                </a:gridCol>
                <a:gridCol w="9867509">
                  <a:extLst>
                    <a:ext uri="{9D8B030D-6E8A-4147-A177-3AD203B41FA5}">
                      <a16:colId xmlns:a16="http://schemas.microsoft.com/office/drawing/2014/main" val="3460924948"/>
                    </a:ext>
                  </a:extLst>
                </a:gridCol>
              </a:tblGrid>
              <a:tr h="602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 ущерба</a:t>
                      </a:r>
                      <a:endParaRPr lang="ru-RU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  <a:endParaRPr lang="ru-RU" sz="20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extLst>
                  <a:ext uri="{0D108BD9-81ED-4DB2-BD59-A6C34878D82A}">
                    <a16:rowId xmlns:a16="http://schemas.microsoft.com/office/drawing/2014/main" val="1023781996"/>
                  </a:ext>
                </a:extLst>
              </a:tr>
              <a:tr h="6029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Раскрыта информация, которая и так была почти публичной или какая-то незначительная информация. На работу ВУЗа это никак не влияет.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3122777549"/>
                  </a:ext>
                </a:extLst>
              </a:tr>
              <a:tr h="9440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Мелкие неприятности по типу выход из строя сервера на 5-10 минут, никаких потерь данных нет. Кратковременные сбои (до 1 часа) в работе учебного портала. Ошибки в оформлении второстепенных документов. Репутация и основные процессы не страдают.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2000916890"/>
                  </a:ext>
                </a:extLst>
              </a:tr>
              <a:tr h="9440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Нарушение работы отдельных сервисов на несколько часов. Утечка данных, не содержащих тайну. Незначительное снижение эффективности работы персонала из-за как раз сбоя систем и из-за этого отсутствие доступа к нужным ресурсам.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3785236378"/>
                  </a:ext>
                </a:extLst>
              </a:tr>
              <a:tr h="9440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Сбои в ключевых системах по типу СДО или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diskstation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течение рабочего дня. Утечка контактных данных студентов (телефоны, почты). Возникает необходимость внеплановых технических работ и дополнительных финансовых затрат.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3246173262"/>
                  </a:ext>
                </a:extLst>
              </a:tr>
              <a:tr h="9440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Масштабная утечка персональных данных. Кража результатов интеллектуальной деятельности. Нарушение работы системы в период сессии или приемной комиссии. Значительные затраты на восстановление нормального функционирования.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3703371944"/>
                  </a:ext>
                </a:extLst>
              </a:tr>
              <a:tr h="9440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Массовое изменение оценок, подделка данных о выдаче дипломов. Полная потеря баз данных без возможности восстановления. Риск отзыва лицензии у университета, полная остановка деятельности и крах репутации на государственном уровне.</a:t>
                      </a:r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61" marR="55261" marT="0" marB="0"/>
                </a:tc>
                <a:extLst>
                  <a:ext uri="{0D108BD9-81ED-4DB2-BD59-A6C34878D82A}">
                    <a16:rowId xmlns:a16="http://schemas.microsoft.com/office/drawing/2014/main" val="1804085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72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515470" y="96235"/>
            <a:ext cx="11246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Вероятностно-временная шкала реализации несанкционированного доступа к информационным ресурсам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723FEEE-C952-4B2A-8E94-CAE7767EC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81583"/>
              </p:ext>
            </p:extLst>
          </p:nvPr>
        </p:nvGraphicFramePr>
        <p:xfrm>
          <a:off x="515469" y="1183341"/>
          <a:ext cx="11246223" cy="385048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45025">
                  <a:extLst>
                    <a:ext uri="{9D8B030D-6E8A-4147-A177-3AD203B41FA5}">
                      <a16:colId xmlns:a16="http://schemas.microsoft.com/office/drawing/2014/main" val="3797423272"/>
                    </a:ext>
                  </a:extLst>
                </a:gridCol>
                <a:gridCol w="9601198">
                  <a:extLst>
                    <a:ext uri="{9D8B030D-6E8A-4147-A177-3AD203B41FA5}">
                      <a16:colId xmlns:a16="http://schemas.microsoft.com/office/drawing/2014/main" val="3744402688"/>
                    </a:ext>
                  </a:extLst>
                </a:gridCol>
              </a:tblGrid>
              <a:tr h="5827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 события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 частота события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8015708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Данный вид атаки отсутствует.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3019164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Реже, чем раз в год.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218326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Около 1 раза в год.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353987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Около 1 раза в месяц.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0069374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Около 1 раза в неделю.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7118852"/>
                  </a:ext>
                </a:extLst>
              </a:tr>
              <a:tr h="536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Практически ежедневно.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875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75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515470" y="69341"/>
            <a:ext cx="112462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рисков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1599136-25E4-4C33-8135-78B123C58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10371"/>
              </p:ext>
            </p:extLst>
          </p:nvPr>
        </p:nvGraphicFramePr>
        <p:xfrm>
          <a:off x="515470" y="636494"/>
          <a:ext cx="11246224" cy="558501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037623">
                  <a:extLst>
                    <a:ext uri="{9D8B030D-6E8A-4147-A177-3AD203B41FA5}">
                      <a16:colId xmlns:a16="http://schemas.microsoft.com/office/drawing/2014/main" val="3948535312"/>
                    </a:ext>
                  </a:extLst>
                </a:gridCol>
                <a:gridCol w="1431440">
                  <a:extLst>
                    <a:ext uri="{9D8B030D-6E8A-4147-A177-3AD203B41FA5}">
                      <a16:colId xmlns:a16="http://schemas.microsoft.com/office/drawing/2014/main" val="384620201"/>
                    </a:ext>
                  </a:extLst>
                </a:gridCol>
                <a:gridCol w="2225687">
                  <a:extLst>
                    <a:ext uri="{9D8B030D-6E8A-4147-A177-3AD203B41FA5}">
                      <a16:colId xmlns:a16="http://schemas.microsoft.com/office/drawing/2014/main" val="202284273"/>
                    </a:ext>
                  </a:extLst>
                </a:gridCol>
                <a:gridCol w="1551474">
                  <a:extLst>
                    <a:ext uri="{9D8B030D-6E8A-4147-A177-3AD203B41FA5}">
                      <a16:colId xmlns:a16="http://schemas.microsoft.com/office/drawing/2014/main" val="299441492"/>
                    </a:ext>
                  </a:extLst>
                </a:gridCol>
              </a:tblGrid>
              <a:tr h="345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атаки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Ущерб 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Вероятность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7848902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Взлом системы электронных ведомостей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198275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Атака на базу данных студентов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5629595"/>
                  </a:ext>
                </a:extLst>
              </a:tr>
              <a:tr h="7061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Утеря или кража преподавательского ноутбука/флешки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248780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Подделка сайта для кражи паролей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2467034"/>
                  </a:ext>
                </a:extLst>
              </a:tr>
              <a:tr h="7061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-атака на портал приемной комиссии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4848911"/>
                  </a:ext>
                </a:extLst>
              </a:tr>
              <a:tr h="7061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Утечка результатов научных исследований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1777566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SQL-</a:t>
                      </a: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инъекции в СДО</a:t>
                      </a:r>
                      <a:endParaRPr lang="ru-RU" sz="20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0393865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Взлом студенческих аккаунтов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9537251"/>
                  </a:ext>
                </a:extLst>
              </a:tr>
              <a:tr h="70611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вредоносного ПО на университетских компьютерах в классах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3568982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Отключение электропитания в серверной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7907046"/>
                  </a:ext>
                </a:extLst>
              </a:tr>
              <a:tr h="3450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  <a:endParaRPr lang="ru-RU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8,7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1914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7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A8A79A-6A2B-43F6-B857-CAEAAB4657CE}"/>
              </a:ext>
            </a:extLst>
          </p:cNvPr>
          <p:cNvSpPr txBox="1"/>
          <p:nvPr/>
        </p:nvSpPr>
        <p:spPr>
          <a:xfrm>
            <a:off x="515470" y="69341"/>
            <a:ext cx="11246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Меры, методы и средства обеспечения требуемого уровня защищенности информационных ресурсов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BAA99-3DCD-40F9-AA13-5897B787BAEE}"/>
              </a:ext>
            </a:extLst>
          </p:cNvPr>
          <p:cNvSpPr txBox="1"/>
          <p:nvPr/>
        </p:nvSpPr>
        <p:spPr>
          <a:xfrm>
            <a:off x="515470" y="931115"/>
            <a:ext cx="11447930" cy="5484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Программные и технические меры: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двухфакторная аутентификация: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вход в систему только с подтверждением через телефон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почты: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автоматическая блокировка подозрительных писем и ссылок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резервное копирование: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ежедневное сохранение данных на изолированные серверы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сегментация сети: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отделение учебного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 от административной сети с базами данных.</a:t>
            </a:r>
          </a:p>
          <a:p>
            <a:pPr>
              <a:lnSpc>
                <a:spcPct val="11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Организационные меры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и инструктаж:</a:t>
            </a:r>
            <a:r>
              <a:rPr lang="ru-RU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обязательные курсы по кибербезопасности для студентов и сотрудников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прав:</a:t>
            </a:r>
            <a:r>
              <a:rPr lang="ru-RU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 к базам данных только по служебной необходимости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«чистого стола»:</a:t>
            </a:r>
            <a:r>
              <a:rPr lang="ru-RU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запрет на хранение паролей на бумаге и открытых документов на столах</a:t>
            </a:r>
            <a:r>
              <a:rPr lang="en-US"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автоблокировка: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настройка компьютеров на автоматический выход из системы при отсутствии пользователя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течении заданного промежутка времени.</a:t>
            </a:r>
          </a:p>
          <a:p>
            <a:pPr>
              <a:lnSpc>
                <a:spcPct val="11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Средства мониторинга и контроля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инцидентов: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в реальном времени фиксируют попытки взлома или кражи данных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действий пользователей: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выявление подозрительной активности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00" indent="4500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устройств: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 личных ноутбуков и флешек при подключении к учебной сети.</a:t>
            </a:r>
          </a:p>
        </p:txBody>
      </p:sp>
    </p:spTree>
    <p:extLst>
      <p:ext uri="{BB962C8B-B14F-4D97-AF65-F5344CB8AC3E}">
        <p14:creationId xmlns:p14="http://schemas.microsoft.com/office/powerpoint/2010/main" val="79419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951</Words>
  <Application>Microsoft Office PowerPoint</Application>
  <PresentationFormat>Широкоэкранный</PresentationFormat>
  <Paragraphs>147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ПИБ для Университета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podsivalenkodiana@gmail.com</cp:lastModifiedBy>
  <cp:revision>13</cp:revision>
  <dcterms:created xsi:type="dcterms:W3CDTF">2025-07-23T00:59:00Z</dcterms:created>
  <dcterms:modified xsi:type="dcterms:W3CDTF">2026-02-16T18:47:44Z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